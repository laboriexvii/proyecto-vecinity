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" charset="1" panose="02000506030000020004"/>
      <p:regular r:id="rId21"/>
    </p:embeddedFont>
    <p:embeddedFont>
      <p:font typeface="IBM Plex Sans Bold" charset="1" panose="020B080305020300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9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77268" y="1605137"/>
            <a:ext cx="7076727" cy="70767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83958" y="9283"/>
                  </a:moveTo>
                  <a:lnTo>
                    <a:pt x="803517" y="228842"/>
                  </a:lnTo>
                  <a:cubicBezTo>
                    <a:pt x="809461" y="234786"/>
                    <a:pt x="812800" y="242847"/>
                    <a:pt x="812800" y="251253"/>
                  </a:cubicBezTo>
                  <a:lnTo>
                    <a:pt x="812800" y="561547"/>
                  </a:lnTo>
                  <a:cubicBezTo>
                    <a:pt x="812800" y="569953"/>
                    <a:pt x="809461" y="578014"/>
                    <a:pt x="803517" y="583958"/>
                  </a:cubicBezTo>
                  <a:lnTo>
                    <a:pt x="583958" y="803517"/>
                  </a:lnTo>
                  <a:cubicBezTo>
                    <a:pt x="578014" y="809461"/>
                    <a:pt x="569953" y="812800"/>
                    <a:pt x="561547" y="812800"/>
                  </a:cubicBezTo>
                  <a:lnTo>
                    <a:pt x="251253" y="812800"/>
                  </a:lnTo>
                  <a:cubicBezTo>
                    <a:pt x="242847" y="812800"/>
                    <a:pt x="234786" y="809461"/>
                    <a:pt x="228842" y="803517"/>
                  </a:cubicBezTo>
                  <a:lnTo>
                    <a:pt x="9283" y="583958"/>
                  </a:lnTo>
                  <a:cubicBezTo>
                    <a:pt x="3339" y="578014"/>
                    <a:pt x="0" y="569953"/>
                    <a:pt x="0" y="561547"/>
                  </a:cubicBezTo>
                  <a:lnTo>
                    <a:pt x="0" y="251253"/>
                  </a:lnTo>
                  <a:cubicBezTo>
                    <a:pt x="0" y="242847"/>
                    <a:pt x="3339" y="234786"/>
                    <a:pt x="9283" y="228842"/>
                  </a:cubicBezTo>
                  <a:lnTo>
                    <a:pt x="228842" y="9283"/>
                  </a:lnTo>
                  <a:cubicBezTo>
                    <a:pt x="234786" y="3339"/>
                    <a:pt x="242847" y="0"/>
                    <a:pt x="251253" y="0"/>
                  </a:cubicBezTo>
                  <a:lnTo>
                    <a:pt x="561547" y="0"/>
                  </a:lnTo>
                  <a:cubicBezTo>
                    <a:pt x="569953" y="0"/>
                    <a:pt x="578014" y="3339"/>
                    <a:pt x="583958" y="928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301439" y="1829308"/>
            <a:ext cx="6628385" cy="662838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84586" y="9911"/>
                  </a:moveTo>
                  <a:lnTo>
                    <a:pt x="802889" y="228214"/>
                  </a:lnTo>
                  <a:cubicBezTo>
                    <a:pt x="809235" y="234560"/>
                    <a:pt x="812800" y="243167"/>
                    <a:pt x="812800" y="252141"/>
                  </a:cubicBezTo>
                  <a:lnTo>
                    <a:pt x="812800" y="560659"/>
                  </a:lnTo>
                  <a:cubicBezTo>
                    <a:pt x="812800" y="569633"/>
                    <a:pt x="809235" y="578240"/>
                    <a:pt x="802889" y="584586"/>
                  </a:cubicBezTo>
                  <a:lnTo>
                    <a:pt x="584586" y="802889"/>
                  </a:lnTo>
                  <a:cubicBezTo>
                    <a:pt x="578240" y="809235"/>
                    <a:pt x="569633" y="812800"/>
                    <a:pt x="560659" y="812800"/>
                  </a:cubicBezTo>
                  <a:lnTo>
                    <a:pt x="252141" y="812800"/>
                  </a:lnTo>
                  <a:cubicBezTo>
                    <a:pt x="243167" y="812800"/>
                    <a:pt x="234560" y="809235"/>
                    <a:pt x="228214" y="802889"/>
                  </a:cubicBezTo>
                  <a:lnTo>
                    <a:pt x="9911" y="584586"/>
                  </a:lnTo>
                  <a:cubicBezTo>
                    <a:pt x="3565" y="578240"/>
                    <a:pt x="0" y="569633"/>
                    <a:pt x="0" y="560659"/>
                  </a:cubicBezTo>
                  <a:lnTo>
                    <a:pt x="0" y="252141"/>
                  </a:lnTo>
                  <a:cubicBezTo>
                    <a:pt x="0" y="243167"/>
                    <a:pt x="3565" y="234560"/>
                    <a:pt x="9911" y="228214"/>
                  </a:cubicBezTo>
                  <a:lnTo>
                    <a:pt x="228214" y="9911"/>
                  </a:lnTo>
                  <a:cubicBezTo>
                    <a:pt x="234560" y="3565"/>
                    <a:pt x="243167" y="0"/>
                    <a:pt x="252141" y="0"/>
                  </a:cubicBezTo>
                  <a:lnTo>
                    <a:pt x="560659" y="0"/>
                  </a:lnTo>
                  <a:cubicBezTo>
                    <a:pt x="569633" y="0"/>
                    <a:pt x="578240" y="3565"/>
                    <a:pt x="584586" y="9911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789798" y="2935385"/>
            <a:ext cx="8354202" cy="1945950"/>
            <a:chOff x="0" y="0"/>
            <a:chExt cx="2200284" cy="512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0284" cy="512513"/>
            </a:xfrm>
            <a:custGeom>
              <a:avLst/>
              <a:gdLst/>
              <a:ahLst/>
              <a:cxnLst/>
              <a:rect r="r" b="b" t="t" l="l"/>
              <a:pathLst>
                <a:path h="512513" w="2200284">
                  <a:moveTo>
                    <a:pt x="11121" y="0"/>
                  </a:moveTo>
                  <a:lnTo>
                    <a:pt x="2189163" y="0"/>
                  </a:lnTo>
                  <a:cubicBezTo>
                    <a:pt x="2192112" y="0"/>
                    <a:pt x="2194941" y="1172"/>
                    <a:pt x="2197026" y="3257"/>
                  </a:cubicBezTo>
                  <a:cubicBezTo>
                    <a:pt x="2199112" y="5343"/>
                    <a:pt x="2200284" y="8171"/>
                    <a:pt x="2200284" y="11121"/>
                  </a:cubicBezTo>
                  <a:lnTo>
                    <a:pt x="2200284" y="501393"/>
                  </a:lnTo>
                  <a:cubicBezTo>
                    <a:pt x="2200284" y="504342"/>
                    <a:pt x="2199112" y="507171"/>
                    <a:pt x="2197026" y="509256"/>
                  </a:cubicBezTo>
                  <a:cubicBezTo>
                    <a:pt x="2194941" y="511342"/>
                    <a:pt x="2192112" y="512513"/>
                    <a:pt x="2189163" y="512513"/>
                  </a:cubicBezTo>
                  <a:lnTo>
                    <a:pt x="11121" y="512513"/>
                  </a:lnTo>
                  <a:cubicBezTo>
                    <a:pt x="8171" y="512513"/>
                    <a:pt x="5343" y="511342"/>
                    <a:pt x="3257" y="509256"/>
                  </a:cubicBezTo>
                  <a:cubicBezTo>
                    <a:pt x="1172" y="507171"/>
                    <a:pt x="0" y="504342"/>
                    <a:pt x="0" y="501393"/>
                  </a:cubicBezTo>
                  <a:lnTo>
                    <a:pt x="0" y="11121"/>
                  </a:lnTo>
                  <a:cubicBezTo>
                    <a:pt x="0" y="8171"/>
                    <a:pt x="1172" y="5343"/>
                    <a:pt x="3257" y="3257"/>
                  </a:cubicBezTo>
                  <a:cubicBezTo>
                    <a:pt x="5343" y="1172"/>
                    <a:pt x="8171" y="0"/>
                    <a:pt x="111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22E">
                    <a:alpha val="100000"/>
                  </a:srgbClr>
                </a:gs>
                <a:gs pos="100000">
                  <a:srgbClr val="2D529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00284" cy="56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563668" y="8796047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-499881" y="8620176"/>
            <a:ext cx="1050051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true" flipV="false" rot="0">
            <a:off x="1493974" y="8930670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2166" y="3326801"/>
            <a:ext cx="7315200" cy="1163117"/>
          </a:xfrm>
          <a:custGeom>
            <a:avLst/>
            <a:gdLst/>
            <a:ahLst/>
            <a:cxnLst/>
            <a:rect r="r" b="b" t="t" l="l"/>
            <a:pathLst>
              <a:path h="1163117" w="7315200">
                <a:moveTo>
                  <a:pt x="0" y="0"/>
                </a:moveTo>
                <a:lnTo>
                  <a:pt x="7315200" y="0"/>
                </a:lnTo>
                <a:lnTo>
                  <a:pt x="7315200" y="1163117"/>
                </a:lnTo>
                <a:lnTo>
                  <a:pt x="0" y="11631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318244" y="6987032"/>
            <a:ext cx="533801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Integrantes: Marco García</a:t>
            </a:r>
          </a:p>
          <a:p>
            <a:pPr algn="ctr">
              <a:lnSpc>
                <a:spcPts val="2940"/>
              </a:lnSpc>
            </a:pPr>
            <a:r>
              <a:rPr lang="en-US" sz="2100" spc="2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Luis Laborie </a:t>
            </a:r>
          </a:p>
          <a:p>
            <a:pPr algn="ctr">
              <a:lnSpc>
                <a:spcPts val="2940"/>
              </a:lnSpc>
            </a:pPr>
            <a:r>
              <a:rPr lang="en-US" sz="2100" spc="2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   Martina Burgos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Daniel Cares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19766" y="6987032"/>
            <a:ext cx="322540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Profesor: Antonio Gallardo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4691" y="9987522"/>
            <a:ext cx="18917381" cy="617085"/>
            <a:chOff x="0" y="0"/>
            <a:chExt cx="2788263" cy="90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88263" cy="90953"/>
            </a:xfrm>
            <a:custGeom>
              <a:avLst/>
              <a:gdLst/>
              <a:ahLst/>
              <a:cxnLst/>
              <a:rect r="r" b="b" t="t" l="l"/>
              <a:pathLst>
                <a:path h="90953" w="2788263">
                  <a:moveTo>
                    <a:pt x="15551" y="0"/>
                  </a:moveTo>
                  <a:lnTo>
                    <a:pt x="2772711" y="0"/>
                  </a:lnTo>
                  <a:cubicBezTo>
                    <a:pt x="2776836" y="0"/>
                    <a:pt x="2780791" y="1638"/>
                    <a:pt x="2783708" y="4555"/>
                  </a:cubicBezTo>
                  <a:cubicBezTo>
                    <a:pt x="2786624" y="7471"/>
                    <a:pt x="2788263" y="11427"/>
                    <a:pt x="2788263" y="15551"/>
                  </a:cubicBezTo>
                  <a:lnTo>
                    <a:pt x="2788263" y="75402"/>
                  </a:lnTo>
                  <a:cubicBezTo>
                    <a:pt x="2788263" y="79526"/>
                    <a:pt x="2786624" y="83482"/>
                    <a:pt x="2783708" y="86398"/>
                  </a:cubicBezTo>
                  <a:cubicBezTo>
                    <a:pt x="2780791" y="89315"/>
                    <a:pt x="2776836" y="90953"/>
                    <a:pt x="2772711" y="90953"/>
                  </a:cubicBezTo>
                  <a:lnTo>
                    <a:pt x="15551" y="90953"/>
                  </a:lnTo>
                  <a:cubicBezTo>
                    <a:pt x="11427" y="90953"/>
                    <a:pt x="7471" y="89315"/>
                    <a:pt x="4555" y="86398"/>
                  </a:cubicBezTo>
                  <a:cubicBezTo>
                    <a:pt x="1638" y="83482"/>
                    <a:pt x="0" y="79526"/>
                    <a:pt x="0" y="75402"/>
                  </a:cubicBezTo>
                  <a:lnTo>
                    <a:pt x="0" y="15551"/>
                  </a:lnTo>
                  <a:cubicBezTo>
                    <a:pt x="0" y="11427"/>
                    <a:pt x="1638" y="7471"/>
                    <a:pt x="4555" y="4555"/>
                  </a:cubicBezTo>
                  <a:cubicBezTo>
                    <a:pt x="7471" y="1638"/>
                    <a:pt x="11427" y="0"/>
                    <a:pt x="155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028700" y="8930670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26531" y="373368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45944" y="421965"/>
            <a:ext cx="6087062" cy="94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Abstract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16008"/>
            <a:ext cx="16230600" cy="25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Vecinity is </a:t>
            </a:r>
            <a:r>
              <a:rPr lang="en-US" sz="2899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 web platform that modernizes neighborhood association management by replacing manual processes with a digital, transparent solution.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Residents can register, request certificates, and communicate directly with their community board.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Developed using Scrum, Python, React and Tailwind, Vecinity improves efficiency, communication, and digital transformation in local organizations.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5515" y="715533"/>
            <a:ext cx="1210429" cy="72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9"/>
              </a:lnSpc>
            </a:pPr>
            <a:r>
              <a:rPr lang="en-US" sz="4192" b="true">
                <a:solidFill>
                  <a:srgbClr val="3165A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4691" y="2766721"/>
            <a:ext cx="19008298" cy="7837886"/>
            <a:chOff x="0" y="0"/>
            <a:chExt cx="7598033" cy="3132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98033" cy="3132975"/>
            </a:xfrm>
            <a:custGeom>
              <a:avLst/>
              <a:gdLst/>
              <a:ahLst/>
              <a:cxnLst/>
              <a:rect r="r" b="b" t="t" l="l"/>
              <a:pathLst>
                <a:path h="3132975" w="7598033">
                  <a:moveTo>
                    <a:pt x="12219" y="0"/>
                  </a:moveTo>
                  <a:lnTo>
                    <a:pt x="7585814" y="0"/>
                  </a:lnTo>
                  <a:cubicBezTo>
                    <a:pt x="7589055" y="0"/>
                    <a:pt x="7592163" y="1287"/>
                    <a:pt x="7594454" y="3579"/>
                  </a:cubicBezTo>
                  <a:cubicBezTo>
                    <a:pt x="7596746" y="5870"/>
                    <a:pt x="7598033" y="8978"/>
                    <a:pt x="7598033" y="12219"/>
                  </a:cubicBezTo>
                  <a:lnTo>
                    <a:pt x="7598033" y="3120756"/>
                  </a:lnTo>
                  <a:cubicBezTo>
                    <a:pt x="7598033" y="3127504"/>
                    <a:pt x="7592563" y="3132975"/>
                    <a:pt x="7585814" y="3132975"/>
                  </a:cubicBezTo>
                  <a:lnTo>
                    <a:pt x="12219" y="3132975"/>
                  </a:lnTo>
                  <a:cubicBezTo>
                    <a:pt x="5471" y="3132975"/>
                    <a:pt x="0" y="3127504"/>
                    <a:pt x="0" y="3120756"/>
                  </a:cubicBezTo>
                  <a:lnTo>
                    <a:pt x="0" y="12219"/>
                  </a:lnTo>
                  <a:cubicBezTo>
                    <a:pt x="0" y="5471"/>
                    <a:pt x="5471" y="0"/>
                    <a:pt x="122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598033" cy="317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14691" y="9987522"/>
            <a:ext cx="18917381" cy="617085"/>
            <a:chOff x="0" y="0"/>
            <a:chExt cx="2788263" cy="909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8263" cy="90953"/>
            </a:xfrm>
            <a:custGeom>
              <a:avLst/>
              <a:gdLst/>
              <a:ahLst/>
              <a:cxnLst/>
              <a:rect r="r" b="b" t="t" l="l"/>
              <a:pathLst>
                <a:path h="90953" w="2788263">
                  <a:moveTo>
                    <a:pt x="15551" y="0"/>
                  </a:moveTo>
                  <a:lnTo>
                    <a:pt x="2772711" y="0"/>
                  </a:lnTo>
                  <a:cubicBezTo>
                    <a:pt x="2776836" y="0"/>
                    <a:pt x="2780791" y="1638"/>
                    <a:pt x="2783708" y="4555"/>
                  </a:cubicBezTo>
                  <a:cubicBezTo>
                    <a:pt x="2786624" y="7471"/>
                    <a:pt x="2788263" y="11427"/>
                    <a:pt x="2788263" y="15551"/>
                  </a:cubicBezTo>
                  <a:lnTo>
                    <a:pt x="2788263" y="75402"/>
                  </a:lnTo>
                  <a:cubicBezTo>
                    <a:pt x="2788263" y="79526"/>
                    <a:pt x="2786624" y="83482"/>
                    <a:pt x="2783708" y="86398"/>
                  </a:cubicBezTo>
                  <a:cubicBezTo>
                    <a:pt x="2780791" y="89315"/>
                    <a:pt x="2776836" y="90953"/>
                    <a:pt x="2772711" y="90953"/>
                  </a:cubicBezTo>
                  <a:lnTo>
                    <a:pt x="15551" y="90953"/>
                  </a:lnTo>
                  <a:cubicBezTo>
                    <a:pt x="11427" y="90953"/>
                    <a:pt x="7471" y="89315"/>
                    <a:pt x="4555" y="86398"/>
                  </a:cubicBezTo>
                  <a:cubicBezTo>
                    <a:pt x="1638" y="83482"/>
                    <a:pt x="0" y="79526"/>
                    <a:pt x="0" y="75402"/>
                  </a:cubicBezTo>
                  <a:lnTo>
                    <a:pt x="0" y="15551"/>
                  </a:lnTo>
                  <a:cubicBezTo>
                    <a:pt x="0" y="11427"/>
                    <a:pt x="1638" y="7471"/>
                    <a:pt x="4555" y="4555"/>
                  </a:cubicBezTo>
                  <a:cubicBezTo>
                    <a:pt x="7471" y="1638"/>
                    <a:pt x="11427" y="0"/>
                    <a:pt x="155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1026531" y="373368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9638" y="594466"/>
            <a:ext cx="7701970" cy="94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Problema a Resolver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0186030" y="950926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53404" y="373368"/>
            <a:ext cx="3731143" cy="3731143"/>
          </a:xfrm>
          <a:custGeom>
            <a:avLst/>
            <a:gdLst/>
            <a:ahLst/>
            <a:cxnLst/>
            <a:rect r="r" b="b" t="t" l="l"/>
            <a:pathLst>
              <a:path h="3731143" w="3731143">
                <a:moveTo>
                  <a:pt x="0" y="0"/>
                </a:moveTo>
                <a:lnTo>
                  <a:pt x="3731143" y="0"/>
                </a:lnTo>
                <a:lnTo>
                  <a:pt x="3731143" y="3731143"/>
                </a:lnTo>
                <a:lnTo>
                  <a:pt x="0" y="37311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35515" y="715533"/>
            <a:ext cx="1210429" cy="72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9"/>
              </a:lnSpc>
            </a:pPr>
            <a:r>
              <a:rPr lang="en-US" sz="4192" b="true">
                <a:solidFill>
                  <a:srgbClr val="3165A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3151874"/>
            <a:ext cx="18288000" cy="518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1) Trámites presenciales innecesarios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Los vecinos deben acudir para gestiones simples, generando filas y pérdida de tiempo.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→ Con la digitalización, el tiempo de atención bajaría en un 70%, de 30 min a menos de 10min por trámite.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2) Gestión manual en la junta de vecinos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Hoy se registra en papel o planillas, dificultando seguimiento y trazabilidad.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→ Con Vecinity, se eliminaría el 90% del uso de papel (≈400 hojas/mes), reduciendo errores y cuidando el medioambiente.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3) Baja participación y comunicación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 información y las votaciones se realizan de forma presencial o informal, lo que limita la participación y retrasa decisiones.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→ Con Vecinity: acceso a información y votación en línea, aumentando la participación en 80% (de 30 a 55+ vecinos activos) y reduciendo el tiempo de organización en 70% (de 10 h presenciales a 3 h digitales).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5435" y="1028700"/>
            <a:ext cx="8551195" cy="8650293"/>
            <a:chOff x="0" y="0"/>
            <a:chExt cx="1260374" cy="1274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0374" cy="1274980"/>
            </a:xfrm>
            <a:custGeom>
              <a:avLst/>
              <a:gdLst/>
              <a:ahLst/>
              <a:cxnLst/>
              <a:rect r="r" b="b" t="t" l="l"/>
              <a:pathLst>
                <a:path h="1274980" w="1260374">
                  <a:moveTo>
                    <a:pt x="34404" y="0"/>
                  </a:moveTo>
                  <a:lnTo>
                    <a:pt x="1225970" y="0"/>
                  </a:lnTo>
                  <a:cubicBezTo>
                    <a:pt x="1235095" y="0"/>
                    <a:pt x="1243846" y="3625"/>
                    <a:pt x="1250298" y="10077"/>
                  </a:cubicBezTo>
                  <a:cubicBezTo>
                    <a:pt x="1256749" y="16529"/>
                    <a:pt x="1260374" y="25279"/>
                    <a:pt x="1260374" y="34404"/>
                  </a:cubicBezTo>
                  <a:lnTo>
                    <a:pt x="1260374" y="1240577"/>
                  </a:lnTo>
                  <a:cubicBezTo>
                    <a:pt x="1260374" y="1249701"/>
                    <a:pt x="1256749" y="1258452"/>
                    <a:pt x="1250298" y="1264904"/>
                  </a:cubicBezTo>
                  <a:cubicBezTo>
                    <a:pt x="1243846" y="1271356"/>
                    <a:pt x="1235095" y="1274980"/>
                    <a:pt x="1225970" y="1274980"/>
                  </a:cubicBezTo>
                  <a:lnTo>
                    <a:pt x="34404" y="1274980"/>
                  </a:lnTo>
                  <a:cubicBezTo>
                    <a:pt x="25279" y="1274980"/>
                    <a:pt x="16529" y="1271356"/>
                    <a:pt x="10077" y="1264904"/>
                  </a:cubicBezTo>
                  <a:cubicBezTo>
                    <a:pt x="3625" y="1258452"/>
                    <a:pt x="0" y="1249701"/>
                    <a:pt x="0" y="1240577"/>
                  </a:cubicBezTo>
                  <a:lnTo>
                    <a:pt x="0" y="34404"/>
                  </a:lnTo>
                  <a:cubicBezTo>
                    <a:pt x="0" y="25279"/>
                    <a:pt x="3625" y="16529"/>
                    <a:pt x="10077" y="10077"/>
                  </a:cubicBezTo>
                  <a:cubicBezTo>
                    <a:pt x="16529" y="3625"/>
                    <a:pt x="25279" y="0"/>
                    <a:pt x="344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314691" y="9987522"/>
            <a:ext cx="18917381" cy="617085"/>
            <a:chOff x="0" y="0"/>
            <a:chExt cx="2788263" cy="90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88263" cy="90953"/>
            </a:xfrm>
            <a:custGeom>
              <a:avLst/>
              <a:gdLst/>
              <a:ahLst/>
              <a:cxnLst/>
              <a:rect r="r" b="b" t="t" l="l"/>
              <a:pathLst>
                <a:path h="90953" w="2788263">
                  <a:moveTo>
                    <a:pt x="15551" y="0"/>
                  </a:moveTo>
                  <a:lnTo>
                    <a:pt x="2772711" y="0"/>
                  </a:lnTo>
                  <a:cubicBezTo>
                    <a:pt x="2776836" y="0"/>
                    <a:pt x="2780791" y="1638"/>
                    <a:pt x="2783708" y="4555"/>
                  </a:cubicBezTo>
                  <a:cubicBezTo>
                    <a:pt x="2786624" y="7471"/>
                    <a:pt x="2788263" y="11427"/>
                    <a:pt x="2788263" y="15551"/>
                  </a:cubicBezTo>
                  <a:lnTo>
                    <a:pt x="2788263" y="75402"/>
                  </a:lnTo>
                  <a:cubicBezTo>
                    <a:pt x="2788263" y="79526"/>
                    <a:pt x="2786624" y="83482"/>
                    <a:pt x="2783708" y="86398"/>
                  </a:cubicBezTo>
                  <a:cubicBezTo>
                    <a:pt x="2780791" y="89315"/>
                    <a:pt x="2776836" y="90953"/>
                    <a:pt x="2772711" y="90953"/>
                  </a:cubicBezTo>
                  <a:lnTo>
                    <a:pt x="15551" y="90953"/>
                  </a:lnTo>
                  <a:cubicBezTo>
                    <a:pt x="11427" y="90953"/>
                    <a:pt x="7471" y="89315"/>
                    <a:pt x="4555" y="86398"/>
                  </a:cubicBezTo>
                  <a:cubicBezTo>
                    <a:pt x="1638" y="83482"/>
                    <a:pt x="0" y="79526"/>
                    <a:pt x="0" y="75402"/>
                  </a:cubicBezTo>
                  <a:lnTo>
                    <a:pt x="0" y="15551"/>
                  </a:lnTo>
                  <a:cubicBezTo>
                    <a:pt x="0" y="11427"/>
                    <a:pt x="1638" y="7471"/>
                    <a:pt x="4555" y="4555"/>
                  </a:cubicBezTo>
                  <a:cubicBezTo>
                    <a:pt x="7471" y="1638"/>
                    <a:pt x="11427" y="0"/>
                    <a:pt x="155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333006" y="665528"/>
            <a:ext cx="8135321" cy="8740286"/>
            <a:chOff x="0" y="0"/>
            <a:chExt cx="1260374" cy="13540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0374" cy="1354099"/>
            </a:xfrm>
            <a:custGeom>
              <a:avLst/>
              <a:gdLst/>
              <a:ahLst/>
              <a:cxnLst/>
              <a:rect r="r" b="b" t="t" l="l"/>
              <a:pathLst>
                <a:path h="1354099" w="1260374">
                  <a:moveTo>
                    <a:pt x="28549" y="0"/>
                  </a:moveTo>
                  <a:lnTo>
                    <a:pt x="1231825" y="0"/>
                  </a:lnTo>
                  <a:cubicBezTo>
                    <a:pt x="1247592" y="0"/>
                    <a:pt x="1260374" y="12782"/>
                    <a:pt x="1260374" y="28549"/>
                  </a:cubicBezTo>
                  <a:lnTo>
                    <a:pt x="1260374" y="1325550"/>
                  </a:lnTo>
                  <a:cubicBezTo>
                    <a:pt x="1260374" y="1341317"/>
                    <a:pt x="1247592" y="1354099"/>
                    <a:pt x="1231825" y="1354099"/>
                  </a:cubicBezTo>
                  <a:lnTo>
                    <a:pt x="28549" y="1354099"/>
                  </a:lnTo>
                  <a:cubicBezTo>
                    <a:pt x="12782" y="1354099"/>
                    <a:pt x="0" y="1341317"/>
                    <a:pt x="0" y="1325550"/>
                  </a:cubicBezTo>
                  <a:lnTo>
                    <a:pt x="0" y="28549"/>
                  </a:lnTo>
                  <a:cubicBezTo>
                    <a:pt x="0" y="12782"/>
                    <a:pt x="12782" y="0"/>
                    <a:pt x="28549" y="0"/>
                  </a:cubicBezTo>
                  <a:close/>
                </a:path>
              </a:pathLst>
            </a:custGeom>
            <a:blipFill>
              <a:blip r:embed="rId3"/>
              <a:stretch>
                <a:fillRect l="-3718" t="0" r="-3718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true" flipV="false" rot="0">
            <a:off x="1028700" y="8930670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026531" y="373368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45944" y="421965"/>
            <a:ext cx="6087062" cy="192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Visión del Producto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146" y="3888891"/>
            <a:ext cx="8115300" cy="288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0"/>
              </a:lnSpc>
              <a:spcBef>
                <a:spcPct val="0"/>
              </a:spcBef>
            </a:pPr>
            <a:r>
              <a:rPr lang="en-US" sz="273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Vecinity es un</a:t>
            </a:r>
            <a:r>
              <a:rPr lang="en-US" sz="2736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 aplicación web que moderniza y simplifica la gestión de la junta de vecinos, permitiendo a los residentes inscribirse, obtener certificados y votar proyectos comunitarios de forma rápida, segura y accesible, reduciendo tiempos y asegurando trazabilidad en los procesos.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5515" y="715533"/>
            <a:ext cx="1210429" cy="72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9"/>
              </a:lnSpc>
            </a:pPr>
            <a:r>
              <a:rPr lang="en-US" sz="4192" b="true">
                <a:solidFill>
                  <a:srgbClr val="3165A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7167" y="2825470"/>
            <a:ext cx="6918365" cy="5096967"/>
            <a:chOff x="0" y="0"/>
            <a:chExt cx="9224487" cy="6795956"/>
          </a:xfrm>
        </p:grpSpPr>
        <p:grpSp>
          <p:nvGrpSpPr>
            <p:cNvPr name="Group 4" id="4"/>
            <p:cNvGrpSpPr/>
            <p:nvPr/>
          </p:nvGrpSpPr>
          <p:grpSpPr>
            <a:xfrm rot="-10800000">
              <a:off x="0" y="4514158"/>
              <a:ext cx="9224487" cy="2281798"/>
              <a:chOff x="0" y="0"/>
              <a:chExt cx="1822121" cy="45072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822121" cy="450726"/>
              </a:xfrm>
              <a:custGeom>
                <a:avLst/>
                <a:gdLst/>
                <a:ahLst/>
                <a:cxnLst/>
                <a:rect r="r" b="b" t="t" l="l"/>
                <a:pathLst>
                  <a:path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64E99">
                      <a:alpha val="100000"/>
                    </a:srgbClr>
                  </a:gs>
                  <a:gs pos="50000">
                    <a:srgbClr val="7194CD">
                      <a:alpha val="100000"/>
                    </a:srgbClr>
                  </a:gs>
                  <a:gs pos="100000">
                    <a:srgbClr val="CBD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9224487" cy="6324027"/>
              <a:chOff x="0" y="0"/>
              <a:chExt cx="1822121" cy="12491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22121" cy="1249191"/>
              </a:xfrm>
              <a:custGeom>
                <a:avLst/>
                <a:gdLst/>
                <a:ahLst/>
                <a:cxnLst/>
                <a:rect r="r" b="b" t="t" l="l"/>
                <a:pathLst>
                  <a:path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9742467" y="2825470"/>
            <a:ext cx="6918365" cy="5096967"/>
            <a:chOff x="0" y="0"/>
            <a:chExt cx="9224487" cy="6795956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4514158"/>
              <a:ext cx="9224487" cy="2281798"/>
              <a:chOff x="0" y="0"/>
              <a:chExt cx="1822121" cy="45072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2121" cy="450726"/>
              </a:xfrm>
              <a:custGeom>
                <a:avLst/>
                <a:gdLst/>
                <a:ahLst/>
                <a:cxnLst/>
                <a:rect r="r" b="b" t="t" l="l"/>
                <a:pathLst>
                  <a:path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64E99">
                      <a:alpha val="100000"/>
                    </a:srgbClr>
                  </a:gs>
                  <a:gs pos="50000">
                    <a:srgbClr val="7194CD">
                      <a:alpha val="100000"/>
                    </a:srgbClr>
                  </a:gs>
                  <a:gs pos="100000">
                    <a:srgbClr val="CBD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9224487" cy="6324027"/>
              <a:chOff x="0" y="0"/>
              <a:chExt cx="1822121" cy="124919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22121" cy="1249191"/>
              </a:xfrm>
              <a:custGeom>
                <a:avLst/>
                <a:gdLst/>
                <a:ahLst/>
                <a:cxnLst/>
                <a:rect r="r" b="b" t="t" l="l"/>
                <a:pathLst>
                  <a:path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3163753" y="2086124"/>
            <a:ext cx="3845193" cy="1308998"/>
            <a:chOff x="0" y="0"/>
            <a:chExt cx="1626538" cy="5537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6539" cy="553713"/>
            </a:xfrm>
            <a:custGeom>
              <a:avLst/>
              <a:gdLst/>
              <a:ahLst/>
              <a:cxnLst/>
              <a:rect r="r" b="b" t="t" l="l"/>
              <a:pathLst>
                <a:path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22E">
                    <a:alpha val="100000"/>
                  </a:srgbClr>
                </a:gs>
                <a:gs pos="100000">
                  <a:srgbClr val="2D529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</p:spPr>
          <p:txBody>
            <a:bodyPr anchor="ctr" rtlCol="false" tIns="47543" lIns="47543" bIns="47543" rIns="47543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79053" y="2086124"/>
            <a:ext cx="3845193" cy="1308998"/>
            <a:chOff x="0" y="0"/>
            <a:chExt cx="1626538" cy="5537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6539" cy="553713"/>
            </a:xfrm>
            <a:custGeom>
              <a:avLst/>
              <a:gdLst/>
              <a:ahLst/>
              <a:cxnLst/>
              <a:rect r="r" b="b" t="t" l="l"/>
              <a:pathLst>
                <a:path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22E">
                    <a:alpha val="100000"/>
                  </a:srgbClr>
                </a:gs>
                <a:gs pos="100000">
                  <a:srgbClr val="2D529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</p:spPr>
          <p:txBody>
            <a:bodyPr anchor="ctr" rtlCol="false" tIns="47543" lIns="47543" bIns="47543" rIns="47543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56665" y="2414556"/>
            <a:ext cx="3059371" cy="58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7"/>
              </a:lnSpc>
            </a:pPr>
            <a:r>
              <a:rPr lang="en-US" b="true" sz="3455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GENERAL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71965" y="2413484"/>
            <a:ext cx="3059371" cy="58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7"/>
              </a:lnSpc>
            </a:pPr>
            <a:r>
              <a:rPr lang="en-US" b="true" sz="3455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ESPECÍFICOS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7187" y="3611851"/>
            <a:ext cx="6218327" cy="348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368" indent="-238684" lvl="1">
              <a:lnSpc>
                <a:spcPts val="3095"/>
              </a:lnSpc>
              <a:buFont typeface="Arial"/>
              <a:buChar char="•"/>
            </a:pPr>
            <a:r>
              <a:rPr lang="en-US" sz="2211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Digitalizar y optimizar la gestión de las Juntas de Vecinos mediante una página web que permita automatizar al menos el 80 % de los procesos administrativos de un total de 200 trámites mensuales, reducir en un 60 % los tiempos de atención al vecino, pasando de 30 minutos promedio a solo 10 minutos por trámite, dentro de los primeros 3 meses de implementación.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65436" y="3436343"/>
            <a:ext cx="4871101" cy="33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760" indent="-25688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200 vecinos activos los primeros 3 meses de funcionamiento.</a:t>
            </a:r>
          </a:p>
          <a:p>
            <a:pPr algn="l" marL="513760" indent="-25688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Emitir el 90% de los certificados en línea de 60 mensuales.</a:t>
            </a:r>
          </a:p>
          <a:p>
            <a:pPr algn="l" marL="513760" indent="-25688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Disminuir en un 85% el uso de  500 papeles.</a:t>
            </a:r>
          </a:p>
          <a:p>
            <a:pPr algn="l" marL="513760" indent="-25688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Aumentar encuestas vecinales en un 70% de 100 vecinos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253085" y="8544287"/>
            <a:ext cx="157818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true" flipV="false" rot="0">
            <a:off x="1627167" y="8921175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5" y="0"/>
                </a:moveTo>
                <a:lnTo>
                  <a:pt x="0" y="0"/>
                </a:lnTo>
                <a:lnTo>
                  <a:pt x="0" y="337125"/>
                </a:lnTo>
                <a:lnTo>
                  <a:pt x="707705" y="337125"/>
                </a:lnTo>
                <a:lnTo>
                  <a:pt x="7077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630708" y="8820487"/>
            <a:ext cx="966585" cy="90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</a:t>
            </a:r>
          </a:p>
          <a:p>
            <a:pPr algn="r">
              <a:lnSpc>
                <a:spcPts val="3693"/>
              </a:lnSpc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580809" y="0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7221403" y="517735"/>
            <a:ext cx="3845193" cy="1308998"/>
            <a:chOff x="0" y="0"/>
            <a:chExt cx="1626538" cy="5537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26539" cy="553713"/>
            </a:xfrm>
            <a:custGeom>
              <a:avLst/>
              <a:gdLst/>
              <a:ahLst/>
              <a:cxnLst/>
              <a:rect r="r" b="b" t="t" l="l"/>
              <a:pathLst>
                <a:path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22E">
                    <a:alpha val="100000"/>
                  </a:srgbClr>
                </a:gs>
                <a:gs pos="100000">
                  <a:srgbClr val="2D529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</p:spPr>
          <p:txBody>
            <a:bodyPr anchor="ctr" rtlCol="false" tIns="47543" lIns="47543" bIns="47543" rIns="47543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606065" y="845095"/>
            <a:ext cx="3059371" cy="58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7"/>
              </a:lnSpc>
            </a:pPr>
            <a:r>
              <a:rPr lang="en-US" b="true" sz="3455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OBJETIVOS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5435" y="1028700"/>
            <a:ext cx="8551195" cy="8650293"/>
            <a:chOff x="0" y="0"/>
            <a:chExt cx="1260374" cy="1274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0374" cy="1274980"/>
            </a:xfrm>
            <a:custGeom>
              <a:avLst/>
              <a:gdLst/>
              <a:ahLst/>
              <a:cxnLst/>
              <a:rect r="r" b="b" t="t" l="l"/>
              <a:pathLst>
                <a:path h="1274980" w="1260374">
                  <a:moveTo>
                    <a:pt x="34404" y="0"/>
                  </a:moveTo>
                  <a:lnTo>
                    <a:pt x="1225970" y="0"/>
                  </a:lnTo>
                  <a:cubicBezTo>
                    <a:pt x="1235095" y="0"/>
                    <a:pt x="1243846" y="3625"/>
                    <a:pt x="1250298" y="10077"/>
                  </a:cubicBezTo>
                  <a:cubicBezTo>
                    <a:pt x="1256749" y="16529"/>
                    <a:pt x="1260374" y="25279"/>
                    <a:pt x="1260374" y="34404"/>
                  </a:cubicBezTo>
                  <a:lnTo>
                    <a:pt x="1260374" y="1240577"/>
                  </a:lnTo>
                  <a:cubicBezTo>
                    <a:pt x="1260374" y="1249701"/>
                    <a:pt x="1256749" y="1258452"/>
                    <a:pt x="1250298" y="1264904"/>
                  </a:cubicBezTo>
                  <a:cubicBezTo>
                    <a:pt x="1243846" y="1271356"/>
                    <a:pt x="1235095" y="1274980"/>
                    <a:pt x="1225970" y="1274980"/>
                  </a:cubicBezTo>
                  <a:lnTo>
                    <a:pt x="34404" y="1274980"/>
                  </a:lnTo>
                  <a:cubicBezTo>
                    <a:pt x="25279" y="1274980"/>
                    <a:pt x="16529" y="1271356"/>
                    <a:pt x="10077" y="1264904"/>
                  </a:cubicBezTo>
                  <a:cubicBezTo>
                    <a:pt x="3625" y="1258452"/>
                    <a:pt x="0" y="1249701"/>
                    <a:pt x="0" y="1240577"/>
                  </a:cubicBezTo>
                  <a:lnTo>
                    <a:pt x="0" y="34404"/>
                  </a:lnTo>
                  <a:cubicBezTo>
                    <a:pt x="0" y="25279"/>
                    <a:pt x="3625" y="16529"/>
                    <a:pt x="10077" y="10077"/>
                  </a:cubicBezTo>
                  <a:cubicBezTo>
                    <a:pt x="16529" y="3625"/>
                    <a:pt x="25279" y="0"/>
                    <a:pt x="344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314691" y="9987522"/>
            <a:ext cx="18917381" cy="617085"/>
            <a:chOff x="0" y="0"/>
            <a:chExt cx="2788263" cy="90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88263" cy="90953"/>
            </a:xfrm>
            <a:custGeom>
              <a:avLst/>
              <a:gdLst/>
              <a:ahLst/>
              <a:cxnLst/>
              <a:rect r="r" b="b" t="t" l="l"/>
              <a:pathLst>
                <a:path h="90953" w="2788263">
                  <a:moveTo>
                    <a:pt x="15551" y="0"/>
                  </a:moveTo>
                  <a:lnTo>
                    <a:pt x="2772711" y="0"/>
                  </a:lnTo>
                  <a:cubicBezTo>
                    <a:pt x="2776836" y="0"/>
                    <a:pt x="2780791" y="1638"/>
                    <a:pt x="2783708" y="4555"/>
                  </a:cubicBezTo>
                  <a:cubicBezTo>
                    <a:pt x="2786624" y="7471"/>
                    <a:pt x="2788263" y="11427"/>
                    <a:pt x="2788263" y="15551"/>
                  </a:cubicBezTo>
                  <a:lnTo>
                    <a:pt x="2788263" y="75402"/>
                  </a:lnTo>
                  <a:cubicBezTo>
                    <a:pt x="2788263" y="79526"/>
                    <a:pt x="2786624" y="83482"/>
                    <a:pt x="2783708" y="86398"/>
                  </a:cubicBezTo>
                  <a:cubicBezTo>
                    <a:pt x="2780791" y="89315"/>
                    <a:pt x="2776836" y="90953"/>
                    <a:pt x="2772711" y="90953"/>
                  </a:cubicBezTo>
                  <a:lnTo>
                    <a:pt x="15551" y="90953"/>
                  </a:lnTo>
                  <a:cubicBezTo>
                    <a:pt x="11427" y="90953"/>
                    <a:pt x="7471" y="89315"/>
                    <a:pt x="4555" y="86398"/>
                  </a:cubicBezTo>
                  <a:cubicBezTo>
                    <a:pt x="1638" y="83482"/>
                    <a:pt x="0" y="79526"/>
                    <a:pt x="0" y="75402"/>
                  </a:cubicBezTo>
                  <a:lnTo>
                    <a:pt x="0" y="15551"/>
                  </a:lnTo>
                  <a:cubicBezTo>
                    <a:pt x="0" y="11427"/>
                    <a:pt x="1638" y="7471"/>
                    <a:pt x="4555" y="4555"/>
                  </a:cubicBezTo>
                  <a:cubicBezTo>
                    <a:pt x="7471" y="1638"/>
                    <a:pt x="11427" y="0"/>
                    <a:pt x="155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333006" y="665528"/>
            <a:ext cx="8135321" cy="8740286"/>
            <a:chOff x="0" y="0"/>
            <a:chExt cx="1260374" cy="13540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0374" cy="1354099"/>
            </a:xfrm>
            <a:custGeom>
              <a:avLst/>
              <a:gdLst/>
              <a:ahLst/>
              <a:cxnLst/>
              <a:rect r="r" b="b" t="t" l="l"/>
              <a:pathLst>
                <a:path h="1354099" w="1260374">
                  <a:moveTo>
                    <a:pt x="28549" y="0"/>
                  </a:moveTo>
                  <a:lnTo>
                    <a:pt x="1231825" y="0"/>
                  </a:lnTo>
                  <a:cubicBezTo>
                    <a:pt x="1247592" y="0"/>
                    <a:pt x="1260374" y="12782"/>
                    <a:pt x="1260374" y="28549"/>
                  </a:cubicBezTo>
                  <a:lnTo>
                    <a:pt x="1260374" y="1325550"/>
                  </a:lnTo>
                  <a:cubicBezTo>
                    <a:pt x="1260374" y="1341317"/>
                    <a:pt x="1247592" y="1354099"/>
                    <a:pt x="1231825" y="1354099"/>
                  </a:cubicBezTo>
                  <a:lnTo>
                    <a:pt x="28549" y="1354099"/>
                  </a:lnTo>
                  <a:cubicBezTo>
                    <a:pt x="12782" y="1354099"/>
                    <a:pt x="0" y="1341317"/>
                    <a:pt x="0" y="1325550"/>
                  </a:cubicBezTo>
                  <a:lnTo>
                    <a:pt x="0" y="28549"/>
                  </a:lnTo>
                  <a:cubicBezTo>
                    <a:pt x="0" y="12782"/>
                    <a:pt x="12782" y="0"/>
                    <a:pt x="28549" y="0"/>
                  </a:cubicBezTo>
                  <a:close/>
                </a:path>
              </a:pathLst>
            </a:custGeom>
            <a:blipFill>
              <a:blip r:embed="rId3"/>
              <a:stretch>
                <a:fillRect l="-3718" t="0" r="-3718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true" flipV="false" rot="0">
            <a:off x="1028700" y="8930670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026531" y="373368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45944" y="421965"/>
            <a:ext cx="6087062" cy="192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Marco de Trabajo - SCRUM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00376"/>
            <a:ext cx="7973293" cy="483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5" indent="-295783" lvl="1">
              <a:lnSpc>
                <a:spcPts val="3835"/>
              </a:lnSpc>
              <a:spcBef>
                <a:spcPct val="0"/>
              </a:spcBef>
              <a:buFont typeface="Arial"/>
              <a:buChar char="•"/>
            </a:pPr>
            <a:r>
              <a:rPr lang="en-US" sz="2739" spc="27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Durante el Inception:</a:t>
            </a:r>
            <a:r>
              <a:rPr lang="en-US" sz="2739" spc="27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el equipo definió que el objetivo era digitalizar las juntas de vecinos, reducir el uso de papel en un 85 % y aumentar la participación en un 70 %.</a:t>
            </a:r>
          </a:p>
          <a:p>
            <a:pPr algn="l" marL="591565" indent="-295783" lvl="1">
              <a:lnSpc>
                <a:spcPts val="3835"/>
              </a:lnSpc>
              <a:spcBef>
                <a:spcPct val="0"/>
              </a:spcBef>
              <a:buFont typeface="Arial"/>
              <a:buChar char="•"/>
            </a:pPr>
            <a:r>
              <a:rPr lang="en-US" sz="2739" spc="27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Durante los Sprints: el equipo usó Jira para planificar tareas, GetNave para medir eficiencia y reuniones Scrum para entregar mejoras incrementales (como los módulos de certificados, votaciones y registro de vecinos).</a:t>
            </a:r>
          </a:p>
          <a:p>
            <a:pPr algn="l" marL="0" indent="0" lvl="0">
              <a:lnSpc>
                <a:spcPts val="383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035515" y="715533"/>
            <a:ext cx="1210429" cy="72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9"/>
              </a:lnSpc>
            </a:pPr>
            <a:r>
              <a:rPr lang="en-US" sz="4192" b="true">
                <a:solidFill>
                  <a:srgbClr val="3165A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53085" y="9009514"/>
            <a:ext cx="157818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54101" y="9323813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9741" y="0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14785" y="-559219"/>
            <a:ext cx="2144515" cy="1677066"/>
            <a:chOff x="0" y="0"/>
            <a:chExt cx="609107" cy="4763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107" cy="476337"/>
            </a:xfrm>
            <a:custGeom>
              <a:avLst/>
              <a:gdLst/>
              <a:ahLst/>
              <a:cxnLst/>
              <a:rect r="r" b="b" t="t" l="l"/>
              <a:pathLst>
                <a:path h="476337" w="609107">
                  <a:moveTo>
                    <a:pt x="72202" y="0"/>
                  </a:moveTo>
                  <a:lnTo>
                    <a:pt x="536905" y="0"/>
                  </a:lnTo>
                  <a:cubicBezTo>
                    <a:pt x="556054" y="0"/>
                    <a:pt x="574419" y="7607"/>
                    <a:pt x="587959" y="21147"/>
                  </a:cubicBezTo>
                  <a:cubicBezTo>
                    <a:pt x="601500" y="34688"/>
                    <a:pt x="609107" y="53053"/>
                    <a:pt x="609107" y="72202"/>
                  </a:cubicBezTo>
                  <a:lnTo>
                    <a:pt x="609107" y="404135"/>
                  </a:lnTo>
                  <a:cubicBezTo>
                    <a:pt x="609107" y="444011"/>
                    <a:pt x="576781" y="476337"/>
                    <a:pt x="536905" y="476337"/>
                  </a:cubicBezTo>
                  <a:lnTo>
                    <a:pt x="72202" y="476337"/>
                  </a:lnTo>
                  <a:cubicBezTo>
                    <a:pt x="53053" y="476337"/>
                    <a:pt x="34688" y="468730"/>
                    <a:pt x="21147" y="455190"/>
                  </a:cubicBezTo>
                  <a:cubicBezTo>
                    <a:pt x="7607" y="441649"/>
                    <a:pt x="0" y="423284"/>
                    <a:pt x="0" y="404135"/>
                  </a:cubicBezTo>
                  <a:lnTo>
                    <a:pt x="0" y="72202"/>
                  </a:lnTo>
                  <a:cubicBezTo>
                    <a:pt x="0" y="53053"/>
                    <a:pt x="7607" y="34688"/>
                    <a:pt x="21147" y="21147"/>
                  </a:cubicBezTo>
                  <a:cubicBezTo>
                    <a:pt x="34688" y="7607"/>
                    <a:pt x="53053" y="0"/>
                    <a:pt x="72202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09107" cy="523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754380" y="211315"/>
            <a:ext cx="865325" cy="681876"/>
          </a:xfrm>
          <a:custGeom>
            <a:avLst/>
            <a:gdLst/>
            <a:ahLst/>
            <a:cxnLst/>
            <a:rect r="r" b="b" t="t" l="l"/>
            <a:pathLst>
              <a:path h="681876" w="865325">
                <a:moveTo>
                  <a:pt x="0" y="0"/>
                </a:moveTo>
                <a:lnTo>
                  <a:pt x="865325" y="0"/>
                </a:lnTo>
                <a:lnTo>
                  <a:pt x="865325" y="681876"/>
                </a:lnTo>
                <a:lnTo>
                  <a:pt x="0" y="68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61805" y="1437720"/>
            <a:ext cx="13496286" cy="7034939"/>
          </a:xfrm>
          <a:custGeom>
            <a:avLst/>
            <a:gdLst/>
            <a:ahLst/>
            <a:cxnLst/>
            <a:rect r="r" b="b" t="t" l="l"/>
            <a:pathLst>
              <a:path h="7034939" w="13496286">
                <a:moveTo>
                  <a:pt x="0" y="0"/>
                </a:moveTo>
                <a:lnTo>
                  <a:pt x="13496286" y="0"/>
                </a:lnTo>
                <a:lnTo>
                  <a:pt x="13496286" y="7034939"/>
                </a:lnTo>
                <a:lnTo>
                  <a:pt x="0" y="7034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30708" y="9285713"/>
            <a:ext cx="966585" cy="43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45944" y="421965"/>
            <a:ext cx="9505150" cy="192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Cumulative Flow Diagram</a:t>
            </a:r>
          </a:p>
          <a:p>
            <a:pPr algn="l">
              <a:lnSpc>
                <a:spcPts val="777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53085" y="9009514"/>
            <a:ext cx="157818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54101" y="9323813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9741" y="0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14785" y="-559219"/>
            <a:ext cx="2144515" cy="1677066"/>
            <a:chOff x="0" y="0"/>
            <a:chExt cx="609107" cy="4763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107" cy="476337"/>
            </a:xfrm>
            <a:custGeom>
              <a:avLst/>
              <a:gdLst/>
              <a:ahLst/>
              <a:cxnLst/>
              <a:rect r="r" b="b" t="t" l="l"/>
              <a:pathLst>
                <a:path h="476337" w="609107">
                  <a:moveTo>
                    <a:pt x="72202" y="0"/>
                  </a:moveTo>
                  <a:lnTo>
                    <a:pt x="536905" y="0"/>
                  </a:lnTo>
                  <a:cubicBezTo>
                    <a:pt x="556054" y="0"/>
                    <a:pt x="574419" y="7607"/>
                    <a:pt x="587959" y="21147"/>
                  </a:cubicBezTo>
                  <a:cubicBezTo>
                    <a:pt x="601500" y="34688"/>
                    <a:pt x="609107" y="53053"/>
                    <a:pt x="609107" y="72202"/>
                  </a:cubicBezTo>
                  <a:lnTo>
                    <a:pt x="609107" y="404135"/>
                  </a:lnTo>
                  <a:cubicBezTo>
                    <a:pt x="609107" y="444011"/>
                    <a:pt x="576781" y="476337"/>
                    <a:pt x="536905" y="476337"/>
                  </a:cubicBezTo>
                  <a:lnTo>
                    <a:pt x="72202" y="476337"/>
                  </a:lnTo>
                  <a:cubicBezTo>
                    <a:pt x="53053" y="476337"/>
                    <a:pt x="34688" y="468730"/>
                    <a:pt x="21147" y="455190"/>
                  </a:cubicBezTo>
                  <a:cubicBezTo>
                    <a:pt x="7607" y="441649"/>
                    <a:pt x="0" y="423284"/>
                    <a:pt x="0" y="404135"/>
                  </a:cubicBezTo>
                  <a:lnTo>
                    <a:pt x="0" y="72202"/>
                  </a:lnTo>
                  <a:cubicBezTo>
                    <a:pt x="0" y="53053"/>
                    <a:pt x="7607" y="34688"/>
                    <a:pt x="21147" y="21147"/>
                  </a:cubicBezTo>
                  <a:cubicBezTo>
                    <a:pt x="34688" y="7607"/>
                    <a:pt x="53053" y="0"/>
                    <a:pt x="72202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09107" cy="523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754380" y="211315"/>
            <a:ext cx="865325" cy="681876"/>
          </a:xfrm>
          <a:custGeom>
            <a:avLst/>
            <a:gdLst/>
            <a:ahLst/>
            <a:cxnLst/>
            <a:rect r="r" b="b" t="t" l="l"/>
            <a:pathLst>
              <a:path h="681876" w="865325">
                <a:moveTo>
                  <a:pt x="0" y="0"/>
                </a:moveTo>
                <a:lnTo>
                  <a:pt x="865325" y="0"/>
                </a:lnTo>
                <a:lnTo>
                  <a:pt x="865325" y="681876"/>
                </a:lnTo>
                <a:lnTo>
                  <a:pt x="0" y="68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33127" y="1757816"/>
            <a:ext cx="14180873" cy="6771367"/>
          </a:xfrm>
          <a:custGeom>
            <a:avLst/>
            <a:gdLst/>
            <a:ahLst/>
            <a:cxnLst/>
            <a:rect r="r" b="b" t="t" l="l"/>
            <a:pathLst>
              <a:path h="6771367" w="14180873">
                <a:moveTo>
                  <a:pt x="0" y="0"/>
                </a:moveTo>
                <a:lnTo>
                  <a:pt x="14180874" y="0"/>
                </a:lnTo>
                <a:lnTo>
                  <a:pt x="14180874" y="6771368"/>
                </a:lnTo>
                <a:lnTo>
                  <a:pt x="0" y="6771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30708" y="9285713"/>
            <a:ext cx="966585" cy="43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45944" y="421965"/>
            <a:ext cx="9505150" cy="94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Cycle Time Scatterplot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53085" y="9009514"/>
            <a:ext cx="157818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54101" y="9323813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9741" y="0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14785" y="-559219"/>
            <a:ext cx="2144515" cy="1677066"/>
            <a:chOff x="0" y="0"/>
            <a:chExt cx="609107" cy="4763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107" cy="476337"/>
            </a:xfrm>
            <a:custGeom>
              <a:avLst/>
              <a:gdLst/>
              <a:ahLst/>
              <a:cxnLst/>
              <a:rect r="r" b="b" t="t" l="l"/>
              <a:pathLst>
                <a:path h="476337" w="609107">
                  <a:moveTo>
                    <a:pt x="72202" y="0"/>
                  </a:moveTo>
                  <a:lnTo>
                    <a:pt x="536905" y="0"/>
                  </a:lnTo>
                  <a:cubicBezTo>
                    <a:pt x="556054" y="0"/>
                    <a:pt x="574419" y="7607"/>
                    <a:pt x="587959" y="21147"/>
                  </a:cubicBezTo>
                  <a:cubicBezTo>
                    <a:pt x="601500" y="34688"/>
                    <a:pt x="609107" y="53053"/>
                    <a:pt x="609107" y="72202"/>
                  </a:cubicBezTo>
                  <a:lnTo>
                    <a:pt x="609107" y="404135"/>
                  </a:lnTo>
                  <a:cubicBezTo>
                    <a:pt x="609107" y="444011"/>
                    <a:pt x="576781" y="476337"/>
                    <a:pt x="536905" y="476337"/>
                  </a:cubicBezTo>
                  <a:lnTo>
                    <a:pt x="72202" y="476337"/>
                  </a:lnTo>
                  <a:cubicBezTo>
                    <a:pt x="53053" y="476337"/>
                    <a:pt x="34688" y="468730"/>
                    <a:pt x="21147" y="455190"/>
                  </a:cubicBezTo>
                  <a:cubicBezTo>
                    <a:pt x="7607" y="441649"/>
                    <a:pt x="0" y="423284"/>
                    <a:pt x="0" y="404135"/>
                  </a:cubicBezTo>
                  <a:lnTo>
                    <a:pt x="0" y="72202"/>
                  </a:lnTo>
                  <a:cubicBezTo>
                    <a:pt x="0" y="53053"/>
                    <a:pt x="7607" y="34688"/>
                    <a:pt x="21147" y="21147"/>
                  </a:cubicBezTo>
                  <a:cubicBezTo>
                    <a:pt x="34688" y="7607"/>
                    <a:pt x="53053" y="0"/>
                    <a:pt x="72202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09107" cy="523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754380" y="211315"/>
            <a:ext cx="865325" cy="681876"/>
          </a:xfrm>
          <a:custGeom>
            <a:avLst/>
            <a:gdLst/>
            <a:ahLst/>
            <a:cxnLst/>
            <a:rect r="r" b="b" t="t" l="l"/>
            <a:pathLst>
              <a:path h="681876" w="865325">
                <a:moveTo>
                  <a:pt x="0" y="0"/>
                </a:moveTo>
                <a:lnTo>
                  <a:pt x="865325" y="0"/>
                </a:lnTo>
                <a:lnTo>
                  <a:pt x="865325" y="681876"/>
                </a:lnTo>
                <a:lnTo>
                  <a:pt x="0" y="68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7953" y="1620673"/>
            <a:ext cx="14046427" cy="6654495"/>
          </a:xfrm>
          <a:custGeom>
            <a:avLst/>
            <a:gdLst/>
            <a:ahLst/>
            <a:cxnLst/>
            <a:rect r="r" b="b" t="t" l="l"/>
            <a:pathLst>
              <a:path h="6654495" w="14046427">
                <a:moveTo>
                  <a:pt x="0" y="0"/>
                </a:moveTo>
                <a:lnTo>
                  <a:pt x="14046427" y="0"/>
                </a:lnTo>
                <a:lnTo>
                  <a:pt x="14046427" y="6654495"/>
                </a:lnTo>
                <a:lnTo>
                  <a:pt x="0" y="66544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30708" y="9285713"/>
            <a:ext cx="966585" cy="43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45944" y="421965"/>
            <a:ext cx="9505150" cy="94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Throughput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53085" y="9009514"/>
            <a:ext cx="157818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54101" y="9323813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9741" y="0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14785" y="-559219"/>
            <a:ext cx="2144515" cy="1677066"/>
            <a:chOff x="0" y="0"/>
            <a:chExt cx="609107" cy="4763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107" cy="476337"/>
            </a:xfrm>
            <a:custGeom>
              <a:avLst/>
              <a:gdLst/>
              <a:ahLst/>
              <a:cxnLst/>
              <a:rect r="r" b="b" t="t" l="l"/>
              <a:pathLst>
                <a:path h="476337" w="609107">
                  <a:moveTo>
                    <a:pt x="72202" y="0"/>
                  </a:moveTo>
                  <a:lnTo>
                    <a:pt x="536905" y="0"/>
                  </a:lnTo>
                  <a:cubicBezTo>
                    <a:pt x="556054" y="0"/>
                    <a:pt x="574419" y="7607"/>
                    <a:pt x="587959" y="21147"/>
                  </a:cubicBezTo>
                  <a:cubicBezTo>
                    <a:pt x="601500" y="34688"/>
                    <a:pt x="609107" y="53053"/>
                    <a:pt x="609107" y="72202"/>
                  </a:cubicBezTo>
                  <a:lnTo>
                    <a:pt x="609107" y="404135"/>
                  </a:lnTo>
                  <a:cubicBezTo>
                    <a:pt x="609107" y="444011"/>
                    <a:pt x="576781" y="476337"/>
                    <a:pt x="536905" y="476337"/>
                  </a:cubicBezTo>
                  <a:lnTo>
                    <a:pt x="72202" y="476337"/>
                  </a:lnTo>
                  <a:cubicBezTo>
                    <a:pt x="53053" y="476337"/>
                    <a:pt x="34688" y="468730"/>
                    <a:pt x="21147" y="455190"/>
                  </a:cubicBezTo>
                  <a:cubicBezTo>
                    <a:pt x="7607" y="441649"/>
                    <a:pt x="0" y="423284"/>
                    <a:pt x="0" y="404135"/>
                  </a:cubicBezTo>
                  <a:lnTo>
                    <a:pt x="0" y="72202"/>
                  </a:lnTo>
                  <a:cubicBezTo>
                    <a:pt x="0" y="53053"/>
                    <a:pt x="7607" y="34688"/>
                    <a:pt x="21147" y="21147"/>
                  </a:cubicBezTo>
                  <a:cubicBezTo>
                    <a:pt x="34688" y="7607"/>
                    <a:pt x="53053" y="0"/>
                    <a:pt x="72202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09107" cy="523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754380" y="211315"/>
            <a:ext cx="865325" cy="681876"/>
          </a:xfrm>
          <a:custGeom>
            <a:avLst/>
            <a:gdLst/>
            <a:ahLst/>
            <a:cxnLst/>
            <a:rect r="r" b="b" t="t" l="l"/>
            <a:pathLst>
              <a:path h="681876" w="865325">
                <a:moveTo>
                  <a:pt x="0" y="0"/>
                </a:moveTo>
                <a:lnTo>
                  <a:pt x="865325" y="0"/>
                </a:lnTo>
                <a:lnTo>
                  <a:pt x="865325" y="681876"/>
                </a:lnTo>
                <a:lnTo>
                  <a:pt x="0" y="68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08785" y="1813803"/>
            <a:ext cx="13221923" cy="6329996"/>
          </a:xfrm>
          <a:custGeom>
            <a:avLst/>
            <a:gdLst/>
            <a:ahLst/>
            <a:cxnLst/>
            <a:rect r="r" b="b" t="t" l="l"/>
            <a:pathLst>
              <a:path h="6329996" w="13221923">
                <a:moveTo>
                  <a:pt x="0" y="0"/>
                </a:moveTo>
                <a:lnTo>
                  <a:pt x="13221923" y="0"/>
                </a:lnTo>
                <a:lnTo>
                  <a:pt x="13221923" y="6329996"/>
                </a:lnTo>
                <a:lnTo>
                  <a:pt x="0" y="63299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30708" y="9285713"/>
            <a:ext cx="966585" cy="43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45944" y="421965"/>
            <a:ext cx="9505150" cy="94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0"/>
              </a:lnSpc>
            </a:pPr>
            <a:r>
              <a:rPr lang="en-US" sz="5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Aging Chart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6531" y="373368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14691" y="9987522"/>
            <a:ext cx="18917381" cy="617085"/>
            <a:chOff x="0" y="0"/>
            <a:chExt cx="2788263" cy="90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88263" cy="90953"/>
            </a:xfrm>
            <a:custGeom>
              <a:avLst/>
              <a:gdLst/>
              <a:ahLst/>
              <a:cxnLst/>
              <a:rect r="r" b="b" t="t" l="l"/>
              <a:pathLst>
                <a:path h="90953" w="2788263">
                  <a:moveTo>
                    <a:pt x="15551" y="0"/>
                  </a:moveTo>
                  <a:lnTo>
                    <a:pt x="2772711" y="0"/>
                  </a:lnTo>
                  <a:cubicBezTo>
                    <a:pt x="2776836" y="0"/>
                    <a:pt x="2780791" y="1638"/>
                    <a:pt x="2783708" y="4555"/>
                  </a:cubicBezTo>
                  <a:cubicBezTo>
                    <a:pt x="2786624" y="7471"/>
                    <a:pt x="2788263" y="11427"/>
                    <a:pt x="2788263" y="15551"/>
                  </a:cubicBezTo>
                  <a:lnTo>
                    <a:pt x="2788263" y="75402"/>
                  </a:lnTo>
                  <a:cubicBezTo>
                    <a:pt x="2788263" y="79526"/>
                    <a:pt x="2786624" y="83482"/>
                    <a:pt x="2783708" y="86398"/>
                  </a:cubicBezTo>
                  <a:cubicBezTo>
                    <a:pt x="2780791" y="89315"/>
                    <a:pt x="2776836" y="90953"/>
                    <a:pt x="2772711" y="90953"/>
                  </a:cubicBezTo>
                  <a:lnTo>
                    <a:pt x="15551" y="90953"/>
                  </a:lnTo>
                  <a:cubicBezTo>
                    <a:pt x="11427" y="90953"/>
                    <a:pt x="7471" y="89315"/>
                    <a:pt x="4555" y="86398"/>
                  </a:cubicBezTo>
                  <a:cubicBezTo>
                    <a:pt x="1638" y="83482"/>
                    <a:pt x="0" y="79526"/>
                    <a:pt x="0" y="75402"/>
                  </a:cubicBezTo>
                  <a:lnTo>
                    <a:pt x="0" y="15551"/>
                  </a:lnTo>
                  <a:cubicBezTo>
                    <a:pt x="0" y="11427"/>
                    <a:pt x="1638" y="7471"/>
                    <a:pt x="4555" y="4555"/>
                  </a:cubicBezTo>
                  <a:cubicBezTo>
                    <a:pt x="7471" y="1638"/>
                    <a:pt x="11427" y="0"/>
                    <a:pt x="155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339281"/>
            <a:ext cx="5608439" cy="5608439"/>
            <a:chOff x="0" y="0"/>
            <a:chExt cx="13716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lnTo>
                    <a:pt x="68580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64E99">
                    <a:alpha val="100000"/>
                  </a:srgbClr>
                </a:gs>
                <a:gs pos="50000">
                  <a:srgbClr val="7194CD">
                    <a:alpha val="100000"/>
                  </a:srgbClr>
                </a:gs>
                <a:gs pos="100000">
                  <a:srgbClr val="CBD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 w="12700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42747" y="2553328"/>
            <a:ext cx="5180345" cy="5180345"/>
            <a:chOff x="0" y="0"/>
            <a:chExt cx="13716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73833" y="1976841"/>
            <a:ext cx="9514146" cy="6717250"/>
            <a:chOff x="0" y="0"/>
            <a:chExt cx="12685528" cy="8956333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0" y="5997928"/>
              <a:ext cx="12685528" cy="2958405"/>
              <a:chOff x="0" y="0"/>
              <a:chExt cx="2775717" cy="64732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75717" cy="647328"/>
              </a:xfrm>
              <a:custGeom>
                <a:avLst/>
                <a:gdLst/>
                <a:ahLst/>
                <a:cxnLst/>
                <a:rect r="r" b="b" t="t" l="l"/>
                <a:pathLst>
                  <a:path h="647328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622916"/>
                    </a:lnTo>
                    <a:cubicBezTo>
                      <a:pt x="2775717" y="636398"/>
                      <a:pt x="2764788" y="647328"/>
                      <a:pt x="2751305" y="647328"/>
                    </a:cubicBezTo>
                    <a:lnTo>
                      <a:pt x="24412" y="647328"/>
                    </a:lnTo>
                    <a:cubicBezTo>
                      <a:pt x="10930" y="647328"/>
                      <a:pt x="0" y="636398"/>
                      <a:pt x="0" y="622916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64E99">
                      <a:alpha val="100000"/>
                    </a:srgbClr>
                  </a:gs>
                  <a:gs pos="50000">
                    <a:srgbClr val="7194CD">
                      <a:alpha val="100000"/>
                    </a:srgbClr>
                  </a:gs>
                  <a:gs pos="100000">
                    <a:srgbClr val="CBD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775717" cy="6854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2685528" cy="8199251"/>
              <a:chOff x="0" y="0"/>
              <a:chExt cx="2775717" cy="17940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75717" cy="1794076"/>
              </a:xfrm>
              <a:custGeom>
                <a:avLst/>
                <a:gdLst/>
                <a:ahLst/>
                <a:cxnLst/>
                <a:rect r="r" b="b" t="t" l="l"/>
                <a:pathLst>
                  <a:path h="1794076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1769664"/>
                    </a:lnTo>
                    <a:cubicBezTo>
                      <a:pt x="2775717" y="1783146"/>
                      <a:pt x="2764788" y="1794076"/>
                      <a:pt x="2751305" y="1794076"/>
                    </a:cubicBezTo>
                    <a:lnTo>
                      <a:pt x="24412" y="1794076"/>
                    </a:lnTo>
                    <a:cubicBezTo>
                      <a:pt x="10930" y="1794076"/>
                      <a:pt x="0" y="1783146"/>
                      <a:pt x="0" y="1769664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775717" cy="18321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8619223" y="1270210"/>
            <a:ext cx="3883004" cy="1012132"/>
            <a:chOff x="0" y="0"/>
            <a:chExt cx="2124299" cy="5537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4299" cy="553713"/>
            </a:xfrm>
            <a:custGeom>
              <a:avLst/>
              <a:gdLst/>
              <a:ahLst/>
              <a:cxnLst/>
              <a:rect r="r" b="b" t="t" l="l"/>
              <a:pathLst>
                <a:path h="553713" w="2124299">
                  <a:moveTo>
                    <a:pt x="39876" y="0"/>
                  </a:moveTo>
                  <a:lnTo>
                    <a:pt x="2084423" y="0"/>
                  </a:lnTo>
                  <a:cubicBezTo>
                    <a:pt x="2106446" y="0"/>
                    <a:pt x="2124299" y="17853"/>
                    <a:pt x="2124299" y="39876"/>
                  </a:cubicBezTo>
                  <a:lnTo>
                    <a:pt x="2124299" y="513837"/>
                  </a:lnTo>
                  <a:cubicBezTo>
                    <a:pt x="2124299" y="535860"/>
                    <a:pt x="2106446" y="553713"/>
                    <a:pt x="2084423" y="553713"/>
                  </a:cubicBezTo>
                  <a:lnTo>
                    <a:pt x="39876" y="553713"/>
                  </a:lnTo>
                  <a:cubicBezTo>
                    <a:pt x="17853" y="553713"/>
                    <a:pt x="0" y="535860"/>
                    <a:pt x="0" y="513837"/>
                  </a:cubicBezTo>
                  <a:lnTo>
                    <a:pt x="0" y="39876"/>
                  </a:lnTo>
                  <a:cubicBezTo>
                    <a:pt x="0" y="17853"/>
                    <a:pt x="17853" y="0"/>
                    <a:pt x="398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22E">
                    <a:alpha val="100000"/>
                  </a:srgbClr>
                </a:gs>
                <a:gs pos="100000">
                  <a:srgbClr val="2D529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24299" cy="601338"/>
            </a:xfrm>
            <a:prstGeom prst="rect">
              <a:avLst/>
            </a:prstGeom>
          </p:spPr>
          <p:txBody>
            <a:bodyPr anchor="ctr" rtlCol="false" tIns="47543" lIns="47543" bIns="47543" rIns="47543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1028700" y="8930670"/>
            <a:ext cx="707704" cy="337125"/>
          </a:xfrm>
          <a:custGeom>
            <a:avLst/>
            <a:gdLst/>
            <a:ahLst/>
            <a:cxnLst/>
            <a:rect r="r" b="b" t="t" l="l"/>
            <a:pathLst>
              <a:path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35515" y="715533"/>
            <a:ext cx="1210429" cy="146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9"/>
              </a:lnSpc>
            </a:pPr>
            <a:r>
              <a:rPr lang="en-US" sz="4192" b="true">
                <a:solidFill>
                  <a:srgbClr val="3165A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</a:t>
            </a:r>
          </a:p>
          <a:p>
            <a:pPr algn="just">
              <a:lnSpc>
                <a:spcPts val="586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817525" y="1526428"/>
            <a:ext cx="3416412" cy="45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b="true" sz="267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CONCLUSIÓN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92373" y="2830614"/>
            <a:ext cx="7548884" cy="333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379" spc="2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Vecinity moderniza la gestión </a:t>
            </a:r>
            <a:r>
              <a:rPr lang="en-US" sz="2379" spc="2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vecinal mediante una plataforma digital eficiente y sostenible.</a:t>
            </a:r>
          </a:p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379" spc="2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Optimiza tiempos, reduce el uso de papel y mejora la comunicación entre vecinos y autoridades.</a:t>
            </a:r>
          </a:p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379" spc="2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Desarrollado con metodología ágil y tecnologías modernas, impulsa la transparencia, trazabilidad y participación comunitaria, fortaleciendo la transformación digital local.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90199" y="8123047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2"/>
                </a:lnTo>
                <a:lnTo>
                  <a:pt x="0" y="1490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26531" y="373368"/>
            <a:ext cx="2724332" cy="1490953"/>
          </a:xfrm>
          <a:custGeom>
            <a:avLst/>
            <a:gdLst/>
            <a:ahLst/>
            <a:cxnLst/>
            <a:rect r="r" b="b" t="t" l="l"/>
            <a:pathLst>
              <a:path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602637"/>
            <a:ext cx="16230600" cy="160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68"/>
              </a:lnSpc>
            </a:pPr>
            <a:r>
              <a:rPr lang="en-US" sz="9477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¡Gracias por su atención!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580809" y="0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219741" y="8051306"/>
            <a:ext cx="2927694" cy="2235694"/>
          </a:xfrm>
          <a:custGeom>
            <a:avLst/>
            <a:gdLst/>
            <a:ahLst/>
            <a:cxnLst/>
            <a:rect r="r" b="b" t="t" l="l"/>
            <a:pathLst>
              <a:path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99809" y="2235694"/>
            <a:ext cx="3888383" cy="618253"/>
          </a:xfrm>
          <a:custGeom>
            <a:avLst/>
            <a:gdLst/>
            <a:ahLst/>
            <a:cxnLst/>
            <a:rect r="r" b="b" t="t" l="l"/>
            <a:pathLst>
              <a:path h="618253" w="3888383">
                <a:moveTo>
                  <a:pt x="0" y="0"/>
                </a:moveTo>
                <a:lnTo>
                  <a:pt x="3888382" y="0"/>
                </a:lnTo>
                <a:lnTo>
                  <a:pt x="3888382" y="618253"/>
                </a:lnTo>
                <a:lnTo>
                  <a:pt x="0" y="6182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DAGyEr_wJ8s</dc:identifier>
  <dcterms:modified xsi:type="dcterms:W3CDTF">2011-08-01T06:04:30Z</dcterms:modified>
  <cp:revision>1</cp:revision>
  <dc:title>Presentación Proyecto de Negocios Moderno Azul</dc:title>
</cp:coreProperties>
</file>